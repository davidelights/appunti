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BD5DEB-CB94-4DEB-9125-73B2453A6F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E04E27-EAB9-480B-87FE-9BE3ADCF5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27DA7E-7231-49CB-8A6A-7A95966754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210B7F-08C7-45B0-9EC6-10508A1D50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D22305-2CD0-4CA2-8431-221D8DF02E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E5ECD4-A32E-4DB8-B1D2-DC50807179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E778391-BE06-40F8-B4FE-6F48780118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0F479D-657B-467C-8687-69F2D21478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8AA159-9D0F-43A5-93F7-602D920D75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925E3-4D0F-498D-960C-A0C3FCA678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9607FE-4361-4BEA-82E6-5049E6F63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logo_tor_vergata.png"/>
          <p:cNvPicPr/>
          <p:nvPr/>
        </p:nvPicPr>
        <p:blipFill>
          <a:blip r:embed="rId1"/>
          <a:stretch/>
        </p:blipFill>
        <p:spPr>
          <a:xfrm>
            <a:off x="171360" y="900000"/>
            <a:ext cx="2704320" cy="61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2"/>
          <p:cNvSpPr/>
          <p:nvPr/>
        </p:nvSpPr>
        <p:spPr>
          <a:xfrm>
            <a:off x="3048120" y="988560"/>
            <a:ext cx="54046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pc="71" strike="noStrike" cap="all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Università degli Studi di Roma "Tor Vergata"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048120" y="1230840"/>
            <a:ext cx="50461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pc="71" strike="noStrike" cap="all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Corso di Laurea in Informatica Triennale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171360" y="183816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695160" y="183816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71360" y="2058120"/>
            <a:ext cx="281376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970" b="1" u="none" spc="-79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BlueAgent</a:t>
            </a:r>
            <a:endParaRPr lang="it-IT" sz="3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71360" y="2794320"/>
            <a:ext cx="895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10" b="0" u="none" strike="noStrike">
                <a:solidFill>
                  <a:srgbClr val="334155"/>
                </a:solidFill>
                <a:effectLst/>
                <a:uFillTx/>
                <a:latin typeface="Arial"/>
                <a:ea typeface="Arial"/>
              </a:rPr>
              <a:t>Orchestratore di container per Cyber Range orientati a CTF di Difesa</a:t>
            </a:r>
            <a:endParaRPr lang="it-IT" sz="2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171360" y="3698640"/>
            <a:ext cx="11848320" cy="183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icture 9" descr="davide_avatar.png"/>
          <p:cNvSpPr/>
          <p:nvPr/>
        </p:nvSpPr>
        <p:spPr>
          <a:xfrm>
            <a:off x="181080" y="3980520"/>
            <a:ext cx="723240" cy="7232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19050">
            <a:solidFill>
              <a:srgbClr val="BFDBFE"/>
            </a:solidFill>
            <a:round/>
          </a:ln>
          <a:effectLst>
            <a:outerShdw algn="t" blurRad="114480" dir="5400000" dist="38160" rotWithShape="0">
              <a:srgbClr val="2563EB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066680" y="4150080"/>
            <a:ext cx="24487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Candidato: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Davide Luci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066680" y="4424400"/>
            <a:ext cx="209556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Matricola: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0341922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868960" y="4150080"/>
            <a:ext cx="308160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Relatore: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Prof. Pierpaolo Loreti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868960" y="4424400"/>
            <a:ext cx="353160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Correlatore: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Ing. Francesco Mancini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171360" y="885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695160" y="885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71360" y="1095480"/>
            <a:ext cx="69764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Il Problema: CTF Classiche vs CTF Difensive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4"/>
          <p:cNvSpPr/>
          <p:nvPr/>
        </p:nvSpPr>
        <p:spPr>
          <a:xfrm>
            <a:off x="171360" y="1611000"/>
            <a:ext cx="5801760" cy="3677040"/>
          </a:xfrm>
          <a:prstGeom prst="roundRect">
            <a:avLst>
              <a:gd name="adj" fmla="val 2590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171360" y="1649160"/>
            <a:ext cx="5801760" cy="3638880"/>
          </a:xfrm>
          <a:prstGeom prst="roundRect">
            <a:avLst>
              <a:gd name="adj" fmla="val 26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6" descr="ic_terminal.png"/>
          <p:cNvPicPr/>
          <p:nvPr/>
        </p:nvPicPr>
        <p:blipFill>
          <a:blip r:embed="rId1"/>
          <a:stretch/>
        </p:blipFill>
        <p:spPr>
          <a:xfrm>
            <a:off x="432360" y="19026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7"/>
          <p:cNvSpPr/>
          <p:nvPr/>
        </p:nvSpPr>
        <p:spPr>
          <a:xfrm>
            <a:off x="737280" y="1878480"/>
            <a:ext cx="41990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CTF Classica (Offensiva / Jeopardy)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432360" y="2446200"/>
            <a:ext cx="482940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Obiettivo: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Sfruttare una vulnerabilità per leggere un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432360" y="2720520"/>
            <a:ext cx="107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segreto.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0"/>
          <p:cNvSpPr/>
          <p:nvPr/>
        </p:nvSpPr>
        <p:spPr>
          <a:xfrm>
            <a:off x="6217920" y="1611000"/>
            <a:ext cx="5801760" cy="3677040"/>
          </a:xfrm>
          <a:prstGeom prst="roundRect">
            <a:avLst>
              <a:gd name="adj" fmla="val 259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1"/>
          <p:cNvSpPr/>
          <p:nvPr/>
        </p:nvSpPr>
        <p:spPr>
          <a:xfrm>
            <a:off x="6217920" y="1649160"/>
            <a:ext cx="5801760" cy="3638880"/>
          </a:xfrm>
          <a:prstGeom prst="roundRect">
            <a:avLst>
              <a:gd name="adj" fmla="val 26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2" descr="ic_shield.png"/>
          <p:cNvPicPr/>
          <p:nvPr/>
        </p:nvPicPr>
        <p:blipFill>
          <a:blip r:embed="rId2"/>
          <a:stretch/>
        </p:blipFill>
        <p:spPr>
          <a:xfrm>
            <a:off x="6478920" y="19026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13"/>
          <p:cNvSpPr/>
          <p:nvPr/>
        </p:nvSpPr>
        <p:spPr>
          <a:xfrm>
            <a:off x="6783840" y="1878480"/>
            <a:ext cx="4422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CTF Difensiva (Patching &amp; Hardening)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6478920" y="2446200"/>
            <a:ext cx="53758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Obiettivo:</a:t>
            </a: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Correggere la vulnerabilità mantenendo attivo il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6478920" y="2720520"/>
            <a:ext cx="108756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2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servizio.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6"/>
          <p:cNvSpPr/>
          <p:nvPr/>
        </p:nvSpPr>
        <p:spPr>
          <a:xfrm>
            <a:off x="432360" y="3273120"/>
            <a:ext cx="1522440" cy="678240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4288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579960" y="3393000"/>
            <a:ext cx="12272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1. Attacco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455400" y="3647880"/>
            <a:ext cx="14763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4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Exploit remoto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9"/>
          <p:cNvSpPr/>
          <p:nvPr/>
        </p:nvSpPr>
        <p:spPr>
          <a:xfrm>
            <a:off x="1847880" y="3371040"/>
            <a:ext cx="5709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➔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20"/>
          <p:cNvSpPr/>
          <p:nvPr/>
        </p:nvSpPr>
        <p:spPr>
          <a:xfrm>
            <a:off x="2310840" y="3161520"/>
            <a:ext cx="1523160" cy="900360"/>
          </a:xfrm>
          <a:prstGeom prst="roundRect">
            <a:avLst>
              <a:gd name="adj" fmla="val 8456"/>
            </a:avLst>
          </a:prstGeom>
          <a:solidFill>
            <a:srgbClr val="EFF6FF"/>
          </a:solidFill>
          <a:ln w="14288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1"/>
          <p:cNvSpPr/>
          <p:nvPr/>
        </p:nvSpPr>
        <p:spPr>
          <a:xfrm>
            <a:off x="2480400" y="3282480"/>
            <a:ext cx="11840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2. Lettura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22"/>
          <p:cNvSpPr/>
          <p:nvPr/>
        </p:nvSpPr>
        <p:spPr>
          <a:xfrm>
            <a:off x="2784960" y="3521520"/>
            <a:ext cx="574560" cy="21996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2837520" y="3563280"/>
            <a:ext cx="9558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/root/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24"/>
          <p:cNvSpPr/>
          <p:nvPr/>
        </p:nvSpPr>
        <p:spPr>
          <a:xfrm>
            <a:off x="2697840" y="3743280"/>
            <a:ext cx="749160" cy="21996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5"/>
          <p:cNvSpPr/>
          <p:nvPr/>
        </p:nvSpPr>
        <p:spPr>
          <a:xfrm>
            <a:off x="2697840" y="3785040"/>
            <a:ext cx="11300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flag.txt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6"/>
          <p:cNvSpPr/>
          <p:nvPr/>
        </p:nvSpPr>
        <p:spPr>
          <a:xfrm>
            <a:off x="3726360" y="3371040"/>
            <a:ext cx="5709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➔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7"/>
          <p:cNvSpPr/>
          <p:nvPr/>
        </p:nvSpPr>
        <p:spPr>
          <a:xfrm>
            <a:off x="4188960" y="3273120"/>
            <a:ext cx="1522440" cy="678240"/>
          </a:xfrm>
          <a:prstGeom prst="roundRect">
            <a:avLst>
              <a:gd name="adj" fmla="val 11220"/>
            </a:avLst>
          </a:prstGeom>
          <a:solidFill>
            <a:srgbClr val="F0FDF4"/>
          </a:solidFill>
          <a:ln w="14288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8"/>
          <p:cNvSpPr/>
          <p:nvPr/>
        </p:nvSpPr>
        <p:spPr>
          <a:xfrm>
            <a:off x="4343040" y="3393000"/>
            <a:ext cx="12142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3. Verifica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9"/>
          <p:cNvSpPr/>
          <p:nvPr/>
        </p:nvSpPr>
        <p:spPr>
          <a:xfrm>
            <a:off x="4245480" y="3647880"/>
            <a:ext cx="14094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4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Match stringa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30"/>
          <p:cNvSpPr/>
          <p:nvPr/>
        </p:nvSpPr>
        <p:spPr>
          <a:xfrm>
            <a:off x="6478920" y="3161520"/>
            <a:ext cx="1522440" cy="900360"/>
          </a:xfrm>
          <a:prstGeom prst="roundRect">
            <a:avLst>
              <a:gd name="adj" fmla="val 8456"/>
            </a:avLst>
          </a:prstGeom>
          <a:solidFill>
            <a:srgbClr val="FFFBEB"/>
          </a:solidFill>
          <a:ln w="14288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1"/>
          <p:cNvSpPr/>
          <p:nvPr/>
        </p:nvSpPr>
        <p:spPr>
          <a:xfrm>
            <a:off x="6586560" y="3282480"/>
            <a:ext cx="130716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1. Accesso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2"/>
          <p:cNvSpPr/>
          <p:nvPr/>
        </p:nvSpPr>
        <p:spPr>
          <a:xfrm>
            <a:off x="6606720" y="3537360"/>
            <a:ext cx="12664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4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Giocatore è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33"/>
          <p:cNvSpPr/>
          <p:nvPr/>
        </p:nvSpPr>
        <p:spPr>
          <a:xfrm>
            <a:off x="7013880" y="3743280"/>
            <a:ext cx="452520" cy="21996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4"/>
          <p:cNvSpPr/>
          <p:nvPr/>
        </p:nvSpPr>
        <p:spPr>
          <a:xfrm>
            <a:off x="7066080" y="3785040"/>
            <a:ext cx="8334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root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5"/>
          <p:cNvSpPr/>
          <p:nvPr/>
        </p:nvSpPr>
        <p:spPr>
          <a:xfrm>
            <a:off x="7894440" y="3371040"/>
            <a:ext cx="5709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➔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36"/>
          <p:cNvSpPr/>
          <p:nvPr/>
        </p:nvSpPr>
        <p:spPr>
          <a:xfrm>
            <a:off x="8357400" y="3273120"/>
            <a:ext cx="1523160" cy="678240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4288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7"/>
          <p:cNvSpPr/>
          <p:nvPr/>
        </p:nvSpPr>
        <p:spPr>
          <a:xfrm>
            <a:off x="8561520" y="3393000"/>
            <a:ext cx="11149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2. Difesa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8"/>
          <p:cNvSpPr/>
          <p:nvPr/>
        </p:nvSpPr>
        <p:spPr>
          <a:xfrm>
            <a:off x="8709480" y="3647880"/>
            <a:ext cx="8186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4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Patch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9"/>
          <p:cNvSpPr/>
          <p:nvPr/>
        </p:nvSpPr>
        <p:spPr>
          <a:xfrm>
            <a:off x="9772560" y="3371040"/>
            <a:ext cx="5709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➔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40"/>
          <p:cNvSpPr/>
          <p:nvPr/>
        </p:nvSpPr>
        <p:spPr>
          <a:xfrm>
            <a:off x="10235520" y="3273120"/>
            <a:ext cx="1522440" cy="678240"/>
          </a:xfrm>
          <a:prstGeom prst="roundRect">
            <a:avLst>
              <a:gd name="adj" fmla="val 11220"/>
            </a:avLst>
          </a:prstGeom>
          <a:solidFill>
            <a:srgbClr val="FEF2F2"/>
          </a:solidFill>
          <a:ln w="14288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1"/>
          <p:cNvSpPr/>
          <p:nvPr/>
        </p:nvSpPr>
        <p:spPr>
          <a:xfrm>
            <a:off x="10334880" y="3393000"/>
            <a:ext cx="132336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3. Verifica?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2"/>
          <p:cNvSpPr/>
          <p:nvPr/>
        </p:nvSpPr>
        <p:spPr>
          <a:xfrm>
            <a:off x="10196640" y="3647880"/>
            <a:ext cx="16002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4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Oracolo esterno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43"/>
          <p:cNvSpPr/>
          <p:nvPr/>
        </p:nvSpPr>
        <p:spPr>
          <a:xfrm>
            <a:off x="432360" y="4183560"/>
            <a:ext cx="5279040" cy="875520"/>
          </a:xfrm>
          <a:prstGeom prst="roundRect">
            <a:avLst>
              <a:gd name="adj" fmla="val 10869"/>
            </a:avLst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44"/>
          <p:cNvSpPr/>
          <p:nvPr/>
        </p:nvSpPr>
        <p:spPr>
          <a:xfrm>
            <a:off x="432360" y="4221720"/>
            <a:ext cx="5279040" cy="837360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5"/>
          <p:cNvSpPr/>
          <p:nvPr/>
        </p:nvSpPr>
        <p:spPr>
          <a:xfrm>
            <a:off x="650520" y="4403160"/>
            <a:ext cx="4019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Verifica Banale:</a:t>
            </a:r>
            <a:r>
              <a:rPr lang="en-US" sz="1450" b="0" u="none" strike="noStrike">
                <a:solidFill>
                  <a:srgbClr val="14532D"/>
                </a:solidFill>
                <a:effectLst/>
                <a:uFillTx/>
                <a:latin typeface="Arial"/>
                <a:ea typeface="Arial"/>
              </a:rPr>
              <a:t> il giocatore </a:t>
            </a:r>
            <a:r>
              <a:rPr lang="en-US" sz="1450" b="0" i="1" u="none" strike="noStrike">
                <a:solidFill>
                  <a:srgbClr val="14532D"/>
                </a:solidFill>
                <a:effectLst/>
                <a:uFillTx/>
                <a:latin typeface="Arial"/>
                <a:ea typeface="Arial"/>
              </a:rPr>
              <a:t>non ha accesso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6"/>
          <p:cNvSpPr/>
          <p:nvPr/>
        </p:nvSpPr>
        <p:spPr>
          <a:xfrm>
            <a:off x="650520" y="4664160"/>
            <a:ext cx="3651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i="1" u="none" strike="noStrike">
                <a:solidFill>
                  <a:srgbClr val="14532D"/>
                </a:solidFill>
                <a:effectLst/>
                <a:uFillTx/>
                <a:latin typeface="Arial"/>
                <a:ea typeface="Arial"/>
              </a:rPr>
              <a:t>privilegiato</a:t>
            </a:r>
            <a:r>
              <a:rPr lang="en-US" sz="1450" b="0" u="none" strike="noStrike">
                <a:solidFill>
                  <a:srgbClr val="14532D"/>
                </a:solidFill>
                <a:effectLst/>
                <a:uFillTx/>
                <a:latin typeface="Arial"/>
                <a:ea typeface="Arial"/>
              </a:rPr>
              <a:t>. Basta confrontare la stringa 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47"/>
          <p:cNvSpPr/>
          <p:nvPr/>
        </p:nvSpPr>
        <p:spPr>
          <a:xfrm>
            <a:off x="3922200" y="4655520"/>
            <a:ext cx="960840" cy="236880"/>
          </a:xfrm>
          <a:prstGeom prst="roundRect">
            <a:avLst>
              <a:gd name="adj" fmla="val 16030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8"/>
          <p:cNvSpPr/>
          <p:nvPr/>
        </p:nvSpPr>
        <p:spPr>
          <a:xfrm>
            <a:off x="3978720" y="4700160"/>
            <a:ext cx="13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3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flag{...}</a:t>
            </a:r>
            <a:endParaRPr lang="it-IT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49"/>
          <p:cNvSpPr/>
          <p:nvPr/>
        </p:nvSpPr>
        <p:spPr>
          <a:xfrm>
            <a:off x="6478920" y="4183560"/>
            <a:ext cx="5279040" cy="875520"/>
          </a:xfrm>
          <a:prstGeom prst="roundRect">
            <a:avLst>
              <a:gd name="adj" fmla="val 10869"/>
            </a:avLst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50"/>
          <p:cNvSpPr/>
          <p:nvPr/>
        </p:nvSpPr>
        <p:spPr>
          <a:xfrm>
            <a:off x="6478920" y="4221720"/>
            <a:ext cx="5279040" cy="837360"/>
          </a:xfrm>
          <a:prstGeom prst="roundRect">
            <a:avLst>
              <a:gd name="adj" fmla="val 11363"/>
            </a:avLst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1"/>
          <p:cNvSpPr/>
          <p:nvPr/>
        </p:nvSpPr>
        <p:spPr>
          <a:xfrm>
            <a:off x="6697080" y="4403160"/>
            <a:ext cx="4885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Perché è complesso:</a:t>
            </a:r>
            <a:r>
              <a:rPr lang="en-US" sz="1450" b="0" u="none" strike="noStrike">
                <a:solidFill>
                  <a:srgbClr val="7F1D1D"/>
                </a:solidFill>
                <a:effectLst/>
                <a:uFillTx/>
                <a:latin typeface="Arial"/>
                <a:ea typeface="Arial"/>
              </a:rPr>
              <a:t> il giocatore leggerebbe qualsiasi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2"/>
          <p:cNvSpPr/>
          <p:nvPr/>
        </p:nvSpPr>
        <p:spPr>
          <a:xfrm>
            <a:off x="6697080" y="4664160"/>
            <a:ext cx="4757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7F1D1D"/>
                </a:solidFill>
                <a:effectLst/>
                <a:uFillTx/>
                <a:latin typeface="Arial"/>
                <a:ea typeface="Arial"/>
              </a:rPr>
              <a:t>flag nel fs. Può intercettare i test dell'oracolo e barare.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171360" y="921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695160" y="921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71360" y="1131480"/>
            <a:ext cx="667548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La Proposta: BlueAgent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171360" y="2115000"/>
            <a:ext cx="3817080" cy="2786400"/>
          </a:xfrm>
          <a:prstGeom prst="roundRect">
            <a:avLst>
              <a:gd name="adj" fmla="val 3417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5"/>
          <p:cNvSpPr/>
          <p:nvPr/>
        </p:nvSpPr>
        <p:spPr>
          <a:xfrm>
            <a:off x="171360" y="2153160"/>
            <a:ext cx="3817080" cy="2748240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6"/>
          <p:cNvSpPr/>
          <p:nvPr/>
        </p:nvSpPr>
        <p:spPr>
          <a:xfrm>
            <a:off x="432360" y="2372040"/>
            <a:ext cx="437400" cy="437400"/>
          </a:xfrm>
          <a:prstGeom prst="roundRect">
            <a:avLst>
              <a:gd name="adj" fmla="val 21739"/>
            </a:avLst>
          </a:prstGeom>
          <a:solidFill>
            <a:srgbClr val="DBE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7" descr="ic_server.png"/>
          <p:cNvPicPr/>
          <p:nvPr/>
        </p:nvPicPr>
        <p:blipFill>
          <a:blip r:embed="rId1"/>
          <a:stretch/>
        </p:blipFill>
        <p:spPr>
          <a:xfrm>
            <a:off x="527760" y="2467440"/>
            <a:ext cx="246960" cy="2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8"/>
          <p:cNvSpPr/>
          <p:nvPr/>
        </p:nvSpPr>
        <p:spPr>
          <a:xfrm>
            <a:off x="432360" y="2973960"/>
            <a:ext cx="2532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1. System Container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432360" y="3540240"/>
            <a:ext cx="3223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Ambienti completi e realistici gestiti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432360" y="3801240"/>
            <a:ext cx="1885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da </a:t>
            </a: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Incus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 offrendo 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1"/>
          <p:cNvSpPr/>
          <p:nvPr/>
        </p:nvSpPr>
        <p:spPr>
          <a:xfrm>
            <a:off x="1937520" y="3792600"/>
            <a:ext cx="772200" cy="236880"/>
          </a:xfrm>
          <a:prstGeom prst="roundRect">
            <a:avLst>
              <a:gd name="adj" fmla="val 16030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1994040" y="3837240"/>
            <a:ext cx="11530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3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systemd</a:t>
            </a:r>
            <a:endParaRPr lang="it-IT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3"/>
          <p:cNvSpPr/>
          <p:nvPr/>
        </p:nvSpPr>
        <p:spPr>
          <a:xfrm>
            <a:off x="432360" y="4116960"/>
            <a:ext cx="32940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432360" y="425088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628920" y="4250880"/>
            <a:ext cx="22766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Persistenza delle patch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432360" y="447264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628920" y="4472640"/>
            <a:ext cx="16855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Basso uso RAM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8"/>
          <p:cNvSpPr/>
          <p:nvPr/>
        </p:nvSpPr>
        <p:spPr>
          <a:xfrm>
            <a:off x="4187160" y="2115000"/>
            <a:ext cx="3817080" cy="2786400"/>
          </a:xfrm>
          <a:prstGeom prst="roundRect">
            <a:avLst>
              <a:gd name="adj" fmla="val 341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9"/>
          <p:cNvSpPr/>
          <p:nvPr/>
        </p:nvSpPr>
        <p:spPr>
          <a:xfrm>
            <a:off x="4187160" y="2153160"/>
            <a:ext cx="3817080" cy="2748240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20"/>
          <p:cNvSpPr/>
          <p:nvPr/>
        </p:nvSpPr>
        <p:spPr>
          <a:xfrm>
            <a:off x="4448160" y="2372040"/>
            <a:ext cx="437400" cy="437400"/>
          </a:xfrm>
          <a:prstGeom prst="roundRect">
            <a:avLst>
              <a:gd name="adj" fmla="val 21739"/>
            </a:avLst>
          </a:prstGeom>
          <a:solidFill>
            <a:srgbClr val="E0F2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21" descr="ic_share.png"/>
          <p:cNvPicPr/>
          <p:nvPr/>
        </p:nvPicPr>
        <p:blipFill>
          <a:blip r:embed="rId2"/>
          <a:stretch/>
        </p:blipFill>
        <p:spPr>
          <a:xfrm>
            <a:off x="4543560" y="2467440"/>
            <a:ext cx="246960" cy="2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22"/>
          <p:cNvSpPr/>
          <p:nvPr/>
        </p:nvSpPr>
        <p:spPr>
          <a:xfrm>
            <a:off x="4448160" y="2973960"/>
            <a:ext cx="2912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2. Topologie Multi-Nodo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4448160" y="3540240"/>
            <a:ext cx="2684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Rete dedicata per ogni team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4448160" y="3801240"/>
            <a:ext cx="24678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ccessibile da </a:t>
            </a: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WireGuard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25"/>
          <p:cNvSpPr/>
          <p:nvPr/>
        </p:nvSpPr>
        <p:spPr>
          <a:xfrm>
            <a:off x="4448160" y="4116960"/>
            <a:ext cx="32940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6"/>
          <p:cNvSpPr/>
          <p:nvPr/>
        </p:nvSpPr>
        <p:spPr>
          <a:xfrm>
            <a:off x="4448160" y="425088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0284C7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7"/>
          <p:cNvSpPr/>
          <p:nvPr/>
        </p:nvSpPr>
        <p:spPr>
          <a:xfrm>
            <a:off x="4644720" y="4250880"/>
            <a:ext cx="14184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0284C7"/>
                </a:solidFill>
                <a:effectLst/>
                <a:uFillTx/>
                <a:latin typeface="Arial"/>
                <a:ea typeface="Arial"/>
              </a:rPr>
              <a:t>Nodi multipli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8"/>
          <p:cNvSpPr/>
          <p:nvPr/>
        </p:nvSpPr>
        <p:spPr>
          <a:xfrm>
            <a:off x="4448160" y="447264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0284C7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9"/>
          <p:cNvSpPr/>
          <p:nvPr/>
        </p:nvSpPr>
        <p:spPr>
          <a:xfrm>
            <a:off x="4644720" y="4472640"/>
            <a:ext cx="133308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0284C7"/>
                </a:solidFill>
                <a:effectLst/>
                <a:uFillTx/>
                <a:latin typeface="Arial"/>
                <a:ea typeface="Arial"/>
              </a:rPr>
              <a:t>Isolamento 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30"/>
          <p:cNvSpPr/>
          <p:nvPr/>
        </p:nvSpPr>
        <p:spPr>
          <a:xfrm>
            <a:off x="5597280" y="4464720"/>
            <a:ext cx="801360" cy="219960"/>
          </a:xfrm>
          <a:prstGeom prst="roundRect">
            <a:avLst>
              <a:gd name="adj" fmla="val 17259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1"/>
          <p:cNvSpPr/>
          <p:nvPr/>
        </p:nvSpPr>
        <p:spPr>
          <a:xfrm>
            <a:off x="5649840" y="4506480"/>
            <a:ext cx="11822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nftables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2"/>
          <p:cNvSpPr/>
          <p:nvPr/>
        </p:nvSpPr>
        <p:spPr>
          <a:xfrm>
            <a:off x="6399360" y="4472640"/>
            <a:ext cx="109512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0284C7"/>
                </a:solidFill>
                <a:effectLst/>
                <a:uFillTx/>
                <a:latin typeface="Arial"/>
                <a:ea typeface="Arial"/>
              </a:rPr>
              <a:t> tra team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3"/>
          <p:cNvSpPr/>
          <p:nvPr/>
        </p:nvSpPr>
        <p:spPr>
          <a:xfrm>
            <a:off x="8202960" y="2115000"/>
            <a:ext cx="3817080" cy="2786400"/>
          </a:xfrm>
          <a:prstGeom prst="roundRect">
            <a:avLst>
              <a:gd name="adj" fmla="val 3417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4"/>
          <p:cNvSpPr/>
          <p:nvPr/>
        </p:nvSpPr>
        <p:spPr>
          <a:xfrm>
            <a:off x="8202960" y="2153160"/>
            <a:ext cx="3817080" cy="2748240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35"/>
          <p:cNvSpPr/>
          <p:nvPr/>
        </p:nvSpPr>
        <p:spPr>
          <a:xfrm>
            <a:off x="8463960" y="2372040"/>
            <a:ext cx="437400" cy="437400"/>
          </a:xfrm>
          <a:prstGeom prst="roundRect">
            <a:avLst>
              <a:gd name="adj" fmla="val 21739"/>
            </a:avLst>
          </a:prstGeom>
          <a:solidFill>
            <a:srgbClr val="DCF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1" name="Picture 36" descr="ic_eyeoff.png"/>
          <p:cNvPicPr/>
          <p:nvPr/>
        </p:nvPicPr>
        <p:blipFill>
          <a:blip r:embed="rId3"/>
          <a:stretch/>
        </p:blipFill>
        <p:spPr>
          <a:xfrm>
            <a:off x="8559000" y="2467440"/>
            <a:ext cx="246960" cy="2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37"/>
          <p:cNvSpPr/>
          <p:nvPr/>
        </p:nvSpPr>
        <p:spPr>
          <a:xfrm>
            <a:off x="8463960" y="2973960"/>
            <a:ext cx="24454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3. Verifica Invisibile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8"/>
          <p:cNvSpPr/>
          <p:nvPr/>
        </p:nvSpPr>
        <p:spPr>
          <a:xfrm>
            <a:off x="8463960" y="3540240"/>
            <a:ext cx="3152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Oracolo esegue su </a:t>
            </a: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cloni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 in una rete SDN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9"/>
          <p:cNvSpPr/>
          <p:nvPr/>
        </p:nvSpPr>
        <p:spPr>
          <a:xfrm>
            <a:off x="8463960" y="3801240"/>
            <a:ext cx="1409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OVN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isolata.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0"/>
          <p:cNvSpPr/>
          <p:nvPr/>
        </p:nvSpPr>
        <p:spPr>
          <a:xfrm>
            <a:off x="8463960" y="4116960"/>
            <a:ext cx="32940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41"/>
          <p:cNvSpPr/>
          <p:nvPr/>
        </p:nvSpPr>
        <p:spPr>
          <a:xfrm>
            <a:off x="8463960" y="425088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5803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2"/>
          <p:cNvSpPr/>
          <p:nvPr/>
        </p:nvSpPr>
        <p:spPr>
          <a:xfrm>
            <a:off x="8660520" y="4250880"/>
            <a:ext cx="187596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5803D"/>
                </a:solidFill>
                <a:effectLst/>
                <a:uFillTx/>
                <a:latin typeface="Arial"/>
                <a:ea typeface="Arial"/>
              </a:rPr>
              <a:t>No leak (tcpdump, pspy)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3"/>
          <p:cNvSpPr/>
          <p:nvPr/>
        </p:nvSpPr>
        <p:spPr>
          <a:xfrm>
            <a:off x="8463960" y="4472640"/>
            <a:ext cx="50904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5803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4"/>
          <p:cNvSpPr/>
          <p:nvPr/>
        </p:nvSpPr>
        <p:spPr>
          <a:xfrm>
            <a:off x="8660520" y="4472640"/>
            <a:ext cx="30762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40" b="1" u="none" strike="noStrike">
                <a:solidFill>
                  <a:srgbClr val="15803D"/>
                </a:solidFill>
                <a:effectLst/>
                <a:uFillTx/>
                <a:latin typeface="Arial"/>
                <a:ea typeface="Arial"/>
              </a:rPr>
              <a:t>Nessun impatto sulla produzione</a:t>
            </a:r>
            <a:endParaRPr lang="it-IT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171360" y="57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2"/>
          <p:cNvSpPr/>
          <p:nvPr/>
        </p:nvSpPr>
        <p:spPr>
          <a:xfrm>
            <a:off x="695160" y="57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171360" y="267480"/>
            <a:ext cx="76280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Architettura del Sistema: Diagramma delle Classi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4"/>
          <p:cNvSpPr/>
          <p:nvPr/>
        </p:nvSpPr>
        <p:spPr>
          <a:xfrm>
            <a:off x="171360" y="783000"/>
            <a:ext cx="11848320" cy="5857200"/>
          </a:xfrm>
          <a:prstGeom prst="roundRect">
            <a:avLst>
              <a:gd name="adj" fmla="val 1626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5"/>
          <p:cNvSpPr/>
          <p:nvPr/>
        </p:nvSpPr>
        <p:spPr>
          <a:xfrm>
            <a:off x="171360" y="821160"/>
            <a:ext cx="11848320" cy="5819040"/>
          </a:xfrm>
          <a:prstGeom prst="roundRect">
            <a:avLst>
              <a:gd name="adj" fmla="val 1636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6"/>
          <p:cNvSpPr/>
          <p:nvPr/>
        </p:nvSpPr>
        <p:spPr>
          <a:xfrm>
            <a:off x="304920" y="935280"/>
            <a:ext cx="11581560" cy="5552280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7" descr="classdiagr.png"/>
          <p:cNvPicPr/>
          <p:nvPr/>
        </p:nvPicPr>
        <p:blipFill>
          <a:blip r:embed="rId1"/>
          <a:stretch/>
        </p:blipFill>
        <p:spPr>
          <a:xfrm>
            <a:off x="380880" y="1221120"/>
            <a:ext cx="11429280" cy="498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171360" y="57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695160" y="57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171360" y="267480"/>
            <a:ext cx="831060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Processo di Verifica: Diagramma di Sequenza (UC-03)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4"/>
          <p:cNvSpPr/>
          <p:nvPr/>
        </p:nvSpPr>
        <p:spPr>
          <a:xfrm>
            <a:off x="171360" y="783000"/>
            <a:ext cx="11848320" cy="5857200"/>
          </a:xfrm>
          <a:prstGeom prst="roundRect">
            <a:avLst>
              <a:gd name="adj" fmla="val 1626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5"/>
          <p:cNvSpPr/>
          <p:nvPr/>
        </p:nvSpPr>
        <p:spPr>
          <a:xfrm>
            <a:off x="171360" y="821160"/>
            <a:ext cx="11848320" cy="5819040"/>
          </a:xfrm>
          <a:prstGeom prst="roundRect">
            <a:avLst>
              <a:gd name="adj" fmla="val 1636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6"/>
          <p:cNvSpPr/>
          <p:nvPr/>
        </p:nvSpPr>
        <p:spPr>
          <a:xfrm>
            <a:off x="304920" y="935280"/>
            <a:ext cx="11581560" cy="5552280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83" name="Picture 7" descr="seqdiagram.png"/>
          <p:cNvPicPr/>
          <p:nvPr/>
        </p:nvPicPr>
        <p:blipFill>
          <a:blip r:embed="rId1"/>
          <a:stretch/>
        </p:blipFill>
        <p:spPr>
          <a:xfrm>
            <a:off x="380880" y="1030320"/>
            <a:ext cx="11429280" cy="536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171360" y="57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"/>
          <p:cNvSpPr/>
          <p:nvPr/>
        </p:nvSpPr>
        <p:spPr>
          <a:xfrm>
            <a:off x="695160" y="57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171360" y="267480"/>
            <a:ext cx="510876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Validazione: Sintesi dei Risultati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4"/>
          <p:cNvSpPr/>
          <p:nvPr/>
        </p:nvSpPr>
        <p:spPr>
          <a:xfrm>
            <a:off x="171360" y="783000"/>
            <a:ext cx="5801760" cy="2894040"/>
          </a:xfrm>
          <a:prstGeom prst="roundRect">
            <a:avLst>
              <a:gd name="adj" fmla="val 3290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5"/>
          <p:cNvSpPr/>
          <p:nvPr/>
        </p:nvSpPr>
        <p:spPr>
          <a:xfrm>
            <a:off x="171360" y="821160"/>
            <a:ext cx="5801760" cy="2855880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6"/>
          <p:cNvSpPr/>
          <p:nvPr/>
        </p:nvSpPr>
        <p:spPr>
          <a:xfrm>
            <a:off x="304920" y="935280"/>
            <a:ext cx="5535360" cy="2322360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7" descr="summary_graph2_microphase.png"/>
          <p:cNvPicPr/>
          <p:nvPr/>
        </p:nvPicPr>
        <p:blipFill>
          <a:blip r:embed="rId1"/>
          <a:stretch/>
        </p:blipFill>
        <p:spPr>
          <a:xfrm>
            <a:off x="388440" y="992520"/>
            <a:ext cx="5367600" cy="22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Box 8"/>
          <p:cNvSpPr/>
          <p:nvPr/>
        </p:nvSpPr>
        <p:spPr>
          <a:xfrm>
            <a:off x="304920" y="3317400"/>
            <a:ext cx="48812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Sotto-fasi: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il deploy è dominato dall'estrazione dell'immagine.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9"/>
          <p:cNvSpPr/>
          <p:nvPr/>
        </p:nvSpPr>
        <p:spPr>
          <a:xfrm>
            <a:off x="6217920" y="783000"/>
            <a:ext cx="5801760" cy="2894040"/>
          </a:xfrm>
          <a:prstGeom prst="roundRect">
            <a:avLst>
              <a:gd name="adj" fmla="val 329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0"/>
          <p:cNvSpPr/>
          <p:nvPr/>
        </p:nvSpPr>
        <p:spPr>
          <a:xfrm>
            <a:off x="6217920" y="821160"/>
            <a:ext cx="5801760" cy="2855880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11"/>
          <p:cNvSpPr/>
          <p:nvPr/>
        </p:nvSpPr>
        <p:spPr>
          <a:xfrm>
            <a:off x="6351120" y="935280"/>
            <a:ext cx="5535360" cy="2322360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12" descr="summary_graph3_memory.png"/>
          <p:cNvPicPr/>
          <p:nvPr/>
        </p:nvPicPr>
        <p:blipFill>
          <a:blip r:embed="rId2"/>
          <a:stretch/>
        </p:blipFill>
        <p:spPr>
          <a:xfrm>
            <a:off x="6435000" y="992520"/>
            <a:ext cx="5367600" cy="22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13"/>
          <p:cNvSpPr/>
          <p:nvPr/>
        </p:nvSpPr>
        <p:spPr>
          <a:xfrm>
            <a:off x="6351120" y="3317400"/>
            <a:ext cx="5216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Memoria: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la RAM cresce linearmente, ~5.2 GB con 100 container.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14"/>
          <p:cNvSpPr/>
          <p:nvPr/>
        </p:nvSpPr>
        <p:spPr>
          <a:xfrm>
            <a:off x="171360" y="3830040"/>
            <a:ext cx="5801760" cy="2894040"/>
          </a:xfrm>
          <a:prstGeom prst="roundRect">
            <a:avLst>
              <a:gd name="adj" fmla="val 329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5"/>
          <p:cNvSpPr/>
          <p:nvPr/>
        </p:nvSpPr>
        <p:spPr>
          <a:xfrm>
            <a:off x="171360" y="3868200"/>
            <a:ext cx="5801760" cy="2855880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6"/>
          <p:cNvSpPr/>
          <p:nvPr/>
        </p:nvSpPr>
        <p:spPr>
          <a:xfrm>
            <a:off x="304920" y="3982320"/>
            <a:ext cx="5535360" cy="2322360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17" descr="summary_graph4_timeline.png"/>
          <p:cNvPicPr/>
          <p:nvPr/>
        </p:nvPicPr>
        <p:blipFill>
          <a:blip r:embed="rId3"/>
          <a:stretch/>
        </p:blipFill>
        <p:spPr>
          <a:xfrm>
            <a:off x="388440" y="4039560"/>
            <a:ext cx="5367600" cy="22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18"/>
          <p:cNvSpPr/>
          <p:nvPr/>
        </p:nvSpPr>
        <p:spPr>
          <a:xfrm>
            <a:off x="304920" y="6364440"/>
            <a:ext cx="5107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Timeline: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picco di RAM in verifica, rilascio completo al teardown.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9"/>
          <p:cNvSpPr/>
          <p:nvPr/>
        </p:nvSpPr>
        <p:spPr>
          <a:xfrm>
            <a:off x="6217920" y="3830040"/>
            <a:ext cx="5801760" cy="2894040"/>
          </a:xfrm>
          <a:prstGeom prst="roundRect">
            <a:avLst>
              <a:gd name="adj" fmla="val 3290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20"/>
          <p:cNvSpPr/>
          <p:nvPr/>
        </p:nvSpPr>
        <p:spPr>
          <a:xfrm>
            <a:off x="6217920" y="3868200"/>
            <a:ext cx="5801760" cy="2855880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21"/>
          <p:cNvSpPr/>
          <p:nvPr/>
        </p:nvSpPr>
        <p:spPr>
          <a:xfrm>
            <a:off x="6351120" y="3982320"/>
            <a:ext cx="5535360" cy="2322360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22" descr="summary_graph5_cpu_iowait.png"/>
          <p:cNvPicPr/>
          <p:nvPr/>
        </p:nvPicPr>
        <p:blipFill>
          <a:blip r:embed="rId4"/>
          <a:stretch/>
        </p:blipFill>
        <p:spPr>
          <a:xfrm>
            <a:off x="6435000" y="4039560"/>
            <a:ext cx="5367600" cy="22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23"/>
          <p:cNvSpPr/>
          <p:nvPr/>
        </p:nvSpPr>
        <p:spPr>
          <a:xfrm>
            <a:off x="6351120" y="6364440"/>
            <a:ext cx="43473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CPU vs I/O: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il collo di bottiglia è l'I/O wait, non la CPU.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171360" y="813240"/>
            <a:ext cx="523080" cy="756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2"/>
          <p:cNvSpPr/>
          <p:nvPr/>
        </p:nvSpPr>
        <p:spPr>
          <a:xfrm>
            <a:off x="695160" y="813240"/>
            <a:ext cx="523080" cy="75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171360" y="1023480"/>
            <a:ext cx="561888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550" b="1" u="none" spc="-51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Conclusioni e Spazio alle Domande</a:t>
            </a:r>
            <a:endParaRPr lang="it-IT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4"/>
          <p:cNvSpPr/>
          <p:nvPr/>
        </p:nvSpPr>
        <p:spPr>
          <a:xfrm>
            <a:off x="171360" y="1647000"/>
            <a:ext cx="4525560" cy="3789360"/>
          </a:xfrm>
          <a:prstGeom prst="roundRect">
            <a:avLst>
              <a:gd name="adj" fmla="val 2513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5"/>
          <p:cNvSpPr/>
          <p:nvPr/>
        </p:nvSpPr>
        <p:spPr>
          <a:xfrm>
            <a:off x="171360" y="1685160"/>
            <a:ext cx="4525560" cy="3751200"/>
          </a:xfrm>
          <a:prstGeom prst="roundRect">
            <a:avLst>
              <a:gd name="adj" fmla="val 253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Picture 6" descr="davide_avatar.png"/>
          <p:cNvSpPr/>
          <p:nvPr/>
        </p:nvSpPr>
        <p:spPr>
          <a:xfrm>
            <a:off x="1796400" y="2398320"/>
            <a:ext cx="1275480" cy="12754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28575">
            <a:solidFill>
              <a:srgbClr val="BFDBFE"/>
            </a:solidFill>
            <a:round/>
          </a:ln>
          <a:effectLst>
            <a:outerShdw algn="t" blurRad="228600" dir="5400000" dist="76320" rotWithShape="0">
              <a:srgbClr val="2563EB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7"/>
          <p:cNvSpPr/>
          <p:nvPr/>
        </p:nvSpPr>
        <p:spPr>
          <a:xfrm>
            <a:off x="1475640" y="3887640"/>
            <a:ext cx="19173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15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Davide Luci</a:t>
            </a:r>
            <a:endParaRPr lang="it-IT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8"/>
          <p:cNvSpPr/>
          <p:nvPr/>
        </p:nvSpPr>
        <p:spPr>
          <a:xfrm>
            <a:off x="1386360" y="4272120"/>
            <a:ext cx="209556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2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Matricola: 0341922</a:t>
            </a:r>
            <a:endParaRPr lang="it-IT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9"/>
          <p:cNvSpPr/>
          <p:nvPr/>
        </p:nvSpPr>
        <p:spPr>
          <a:xfrm>
            <a:off x="835200" y="4608000"/>
            <a:ext cx="3197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80" b="0" u="none" strike="noStrike">
                <a:solidFill>
                  <a:srgbClr val="64748B"/>
                </a:solidFill>
                <a:effectLst/>
                <a:uFillTx/>
                <a:latin typeface="Arial"/>
                <a:ea typeface="Arial"/>
              </a:rPr>
              <a:t>Informatica Triennale — Tor Vergata</a:t>
            </a:r>
            <a:endParaRPr lang="it-IT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10"/>
          <p:cNvSpPr/>
          <p:nvPr/>
        </p:nvSpPr>
        <p:spPr>
          <a:xfrm>
            <a:off x="4941720" y="1647000"/>
            <a:ext cx="7078320" cy="2476800"/>
          </a:xfrm>
          <a:prstGeom prst="roundRect">
            <a:avLst>
              <a:gd name="adj" fmla="val 3844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1"/>
          <p:cNvSpPr/>
          <p:nvPr/>
        </p:nvSpPr>
        <p:spPr>
          <a:xfrm>
            <a:off x="4941720" y="1685160"/>
            <a:ext cx="7078320" cy="2438640"/>
          </a:xfrm>
          <a:prstGeom prst="roundRect">
            <a:avLst>
              <a:gd name="adj" fmla="val 390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2"/>
          <p:cNvSpPr/>
          <p:nvPr/>
        </p:nvSpPr>
        <p:spPr>
          <a:xfrm>
            <a:off x="5202720" y="1882080"/>
            <a:ext cx="2369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Obiettivi Raggiunti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3"/>
          <p:cNvSpPr/>
          <p:nvPr/>
        </p:nvSpPr>
        <p:spPr>
          <a:xfrm>
            <a:off x="5243400" y="2242440"/>
            <a:ext cx="443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4"/>
          <p:cNvSpPr/>
          <p:nvPr/>
        </p:nvSpPr>
        <p:spPr>
          <a:xfrm>
            <a:off x="5409360" y="2242440"/>
            <a:ext cx="47854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System Container Leggeri:</a:t>
            </a: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persistenza delle patch e 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5"/>
          <p:cNvSpPr/>
          <p:nvPr/>
        </p:nvSpPr>
        <p:spPr>
          <a:xfrm>
            <a:off x="9814680" y="2234160"/>
            <a:ext cx="749520" cy="231480"/>
          </a:xfrm>
          <a:prstGeom prst="roundRect">
            <a:avLst>
              <a:gd name="adj" fmla="val 16415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6"/>
          <p:cNvSpPr/>
          <p:nvPr/>
        </p:nvSpPr>
        <p:spPr>
          <a:xfrm>
            <a:off x="9869400" y="2277720"/>
            <a:ext cx="1130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systemd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7"/>
          <p:cNvSpPr/>
          <p:nvPr/>
        </p:nvSpPr>
        <p:spPr>
          <a:xfrm>
            <a:off x="10564560" y="2242440"/>
            <a:ext cx="12556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nativo con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8"/>
          <p:cNvSpPr/>
          <p:nvPr/>
        </p:nvSpPr>
        <p:spPr>
          <a:xfrm>
            <a:off x="5409360" y="2490120"/>
            <a:ext cx="1964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~52 MB RAM/nodo.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9"/>
          <p:cNvSpPr/>
          <p:nvPr/>
        </p:nvSpPr>
        <p:spPr>
          <a:xfrm>
            <a:off x="5243400" y="2816640"/>
            <a:ext cx="443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0"/>
          <p:cNvSpPr/>
          <p:nvPr/>
        </p:nvSpPr>
        <p:spPr>
          <a:xfrm>
            <a:off x="5409360" y="2816640"/>
            <a:ext cx="62686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Verifica Fuori Banda Invisibile:</a:t>
            </a: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clonazione tramite </a:t>
            </a:r>
            <a:r>
              <a:rPr lang="en-US" sz="141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ZFS CoW</a:t>
            </a: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, container in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1"/>
          <p:cNvSpPr/>
          <p:nvPr/>
        </p:nvSpPr>
        <p:spPr>
          <a:xfrm>
            <a:off x="5409360" y="3064320"/>
            <a:ext cx="23608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SDN.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2"/>
          <p:cNvSpPr/>
          <p:nvPr/>
        </p:nvSpPr>
        <p:spPr>
          <a:xfrm>
            <a:off x="5243400" y="3390120"/>
            <a:ext cx="443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3"/>
          <p:cNvSpPr/>
          <p:nvPr/>
        </p:nvSpPr>
        <p:spPr>
          <a:xfrm>
            <a:off x="5409360" y="3390120"/>
            <a:ext cx="58863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Integrazione:</a:t>
            </a: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plugin CTFd + API asincrona FastAPI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4"/>
          <p:cNvSpPr/>
          <p:nvPr/>
        </p:nvSpPr>
        <p:spPr>
          <a:xfrm>
            <a:off x="5409360" y="3638520"/>
            <a:ext cx="22647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1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configurabile via YAML.</a:t>
            </a:r>
            <a:endParaRPr lang="it-IT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25"/>
          <p:cNvSpPr/>
          <p:nvPr/>
        </p:nvSpPr>
        <p:spPr>
          <a:xfrm>
            <a:off x="4941720" y="4238640"/>
            <a:ext cx="7078320" cy="1197360"/>
          </a:xfrm>
          <a:prstGeom prst="roundRect">
            <a:avLst>
              <a:gd name="adj" fmla="val 7949"/>
            </a:avLst>
          </a:prstGeom>
          <a:solidFill>
            <a:srgbClr val="1E40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26"/>
          <p:cNvSpPr/>
          <p:nvPr/>
        </p:nvSpPr>
        <p:spPr>
          <a:xfrm>
            <a:off x="4941720" y="4276800"/>
            <a:ext cx="7078320" cy="1159560"/>
          </a:xfrm>
          <a:prstGeom prst="roundRect">
            <a:avLst>
              <a:gd name="adj" fmla="val 821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7"/>
          <p:cNvSpPr/>
          <p:nvPr/>
        </p:nvSpPr>
        <p:spPr>
          <a:xfrm>
            <a:off x="5202720" y="4451040"/>
            <a:ext cx="1946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760" b="1" u="none" strike="noStrike">
                <a:solidFill>
                  <a:srgbClr val="1E40AF"/>
                </a:solidFill>
                <a:effectLst/>
                <a:uFillTx/>
                <a:latin typeface="Arial"/>
                <a:ea typeface="Arial"/>
              </a:rPr>
              <a:t>Sviluppi Futuri</a:t>
            </a:r>
            <a:endParaRPr lang="it-IT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8"/>
          <p:cNvSpPr/>
          <p:nvPr/>
        </p:nvSpPr>
        <p:spPr>
          <a:xfrm>
            <a:off x="5202720" y="4796640"/>
            <a:ext cx="713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CLI </a:t>
            </a:r>
            <a:endParaRPr lang="it-IT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29"/>
          <p:cNvSpPr/>
          <p:nvPr/>
        </p:nvSpPr>
        <p:spPr>
          <a:xfrm>
            <a:off x="5535360" y="4788360"/>
            <a:ext cx="736920" cy="225720"/>
          </a:xfrm>
          <a:prstGeom prst="roundRect">
            <a:avLst>
              <a:gd name="adj" fmla="val 16825"/>
            </a:avLst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0"/>
          <p:cNvSpPr/>
          <p:nvPr/>
        </p:nvSpPr>
        <p:spPr>
          <a:xfrm>
            <a:off x="5589000" y="4831200"/>
            <a:ext cx="11178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80" b="1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bluecmd</a:t>
            </a:r>
            <a:endParaRPr lang="it-IT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1"/>
          <p:cNvSpPr/>
          <p:nvPr/>
        </p:nvSpPr>
        <p:spPr>
          <a:xfrm>
            <a:off x="6273000" y="4796640"/>
            <a:ext cx="5538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8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standalone per debug locale • </a:t>
            </a:r>
            <a:r>
              <a:rPr lang="en-US" sz="138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Polling SLA periodico</a:t>
            </a:r>
            <a:r>
              <a:rPr lang="en-US" sz="138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automatico</a:t>
            </a:r>
            <a:endParaRPr lang="it-IT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2"/>
          <p:cNvSpPr/>
          <p:nvPr/>
        </p:nvSpPr>
        <p:spPr>
          <a:xfrm>
            <a:off x="5202720" y="5045400"/>
            <a:ext cx="4616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8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en-US" sz="1380" b="1" u="none" strike="noStrike">
                <a:solidFill>
                  <a:srgbClr val="0F172A"/>
                </a:solidFill>
                <a:effectLst/>
                <a:uFillTx/>
                <a:latin typeface="Arial"/>
                <a:ea typeface="Arial"/>
              </a:rPr>
              <a:t>Topologie YAML multi-subnet</a:t>
            </a:r>
            <a:r>
              <a:rPr lang="en-US" sz="138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 con router intermedi.</a:t>
            </a:r>
            <a:endParaRPr lang="it-IT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LibreOffice/26.8.1.1$Linux_X86_64 LibreOffice_project/bf8adb135da2784a1be3ca33001278b7a20af5c1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cp:lastPrinted>2026-10-30T01:08:43Z</cp:lastPrinted>
  <dcterms:modified xsi:type="dcterms:W3CDTF">2026-10-30T01:09:15Z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