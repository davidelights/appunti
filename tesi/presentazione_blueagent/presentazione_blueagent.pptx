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r_verg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900112"/>
            <a:ext cx="2705100" cy="6153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8000" y="988726"/>
            <a:ext cx="5405527" cy="2337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15" b="1" i="0" cap="all" spc="71">
                <a:solidFill>
                  <a:srgbClr val="475569"/>
                </a:solidFill>
                <a:latin typeface="Arial"/>
                <a:ea typeface="Arial"/>
                <a:cs typeface="Arial"/>
              </a:rPr>
              <a:t>Università degli Studi di Roma "Tor Vergata"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0" y="1230661"/>
            <a:ext cx="5046985" cy="2337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15" b="1" i="0" cap="all" spc="71">
                <a:solidFill>
                  <a:srgbClr val="475569"/>
                </a:solidFill>
                <a:latin typeface="Arial"/>
                <a:ea typeface="Arial"/>
                <a:cs typeface="Arial"/>
              </a:rPr>
              <a:t>Corso di Laurea in Informatica Triennale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71450" y="1838325"/>
            <a:ext cx="523875" cy="76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5325" y="1838325"/>
            <a:ext cx="523875" cy="76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1450" y="2058074"/>
            <a:ext cx="2814471" cy="6547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965" b="1" i="0" spc="-79">
                <a:solidFill>
                  <a:srgbClr val="0F172A"/>
                </a:solidFill>
                <a:latin typeface="Arial"/>
                <a:ea typeface="Arial"/>
                <a:cs typeface="Arial"/>
              </a:rPr>
              <a:t>BlueAgent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450" y="2794413"/>
            <a:ext cx="8954877" cy="36451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207" b="0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Orchestratore di container per Cyber Range orientati a CTF di Difesa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450" y="3698558"/>
            <a:ext cx="118491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davide_ava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3980498"/>
            <a:ext cx="723900" cy="723900"/>
          </a:xfrm>
          <a:prstGeom prst="ellipse">
            <a:avLst/>
          </a:prstGeom>
          <a:ln w="19050">
            <a:solidFill>
              <a:srgbClr val="BFDBFE"/>
            </a:solidFill>
          </a:ln>
          <a:effectLst>
            <a:outerShdw blurRad="114300" dist="38100" dir="5400000" algn="t" rotWithShape="0">
              <a:srgbClr val="2563EB">
                <a:alpha val="20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066800" y="4149956"/>
            <a:ext cx="2449599" cy="25074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518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Candidato:</a:t>
            </a:r>
            <a:r>
              <a:rPr sz="151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Davide Luci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424276"/>
            <a:ext cx="2096393" cy="25074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518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Matricola:</a:t>
            </a:r>
            <a:r>
              <a:rPr sz="151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0341922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114" y="4149956"/>
            <a:ext cx="3082454" cy="25074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518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Relatore:</a:t>
            </a:r>
            <a:r>
              <a:rPr sz="151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Prof. Pierpaolo Loreti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114" y="4424276"/>
            <a:ext cx="3532436" cy="25074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518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Correlatore:</a:t>
            </a:r>
            <a:r>
              <a:rPr sz="151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Ing. Francesco Mancini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1450" y="57150"/>
            <a:ext cx="523875" cy="76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5325" y="57150"/>
            <a:ext cx="523875" cy="76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1450" y="267381"/>
            <a:ext cx="6976981" cy="4217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554" b="1" i="0" spc="-51">
                <a:solidFill>
                  <a:srgbClr val="0F172A"/>
                </a:solidFill>
                <a:latin typeface="Arial"/>
                <a:ea typeface="Arial"/>
                <a:cs typeface="Arial"/>
              </a:rPr>
              <a:t>Il Problema: CTF Classiche vs CTF Difensive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450" y="782955"/>
            <a:ext cx="5802630" cy="3677602"/>
          </a:xfrm>
          <a:prstGeom prst="roundRect">
            <a:avLst>
              <a:gd name="adj" fmla="val 2590"/>
            </a:avLst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1450" y="821055"/>
            <a:ext cx="5802630" cy="3639502"/>
          </a:xfrm>
          <a:prstGeom prst="roundRect">
            <a:avLst>
              <a:gd name="adj" fmla="val 26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c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35" y="1074420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7235" y="1050571"/>
            <a:ext cx="4199855" cy="29060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1E40AF"/>
                </a:solidFill>
                <a:latin typeface="Arial"/>
                <a:ea typeface="Arial"/>
                <a:cs typeface="Arial"/>
              </a:rPr>
              <a:t>CTF Classica (Offensiva / Jeopardy)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435" y="1618211"/>
            <a:ext cx="4829956" cy="25074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518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Obiettivo:</a:t>
            </a:r>
            <a:r>
              <a:rPr sz="151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Sfruttare una vulnerabilità per leggere 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435" y="1892531"/>
            <a:ext cx="1077888" cy="25074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51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segreto.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782955"/>
            <a:ext cx="5802630" cy="3677602"/>
          </a:xfrm>
          <a:prstGeom prst="roundRect">
            <a:avLst>
              <a:gd name="adj" fmla="val 2590"/>
            </a:avLst>
          </a:prstGeom>
          <a:solidFill>
            <a:srgbClr val="0EA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821055"/>
            <a:ext cx="5802630" cy="3639502"/>
          </a:xfrm>
          <a:prstGeom prst="roundRect">
            <a:avLst>
              <a:gd name="adj" fmla="val 26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905" y="1074420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83705" y="1050571"/>
            <a:ext cx="4422874" cy="29060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1E40AF"/>
                </a:solidFill>
                <a:latin typeface="Arial"/>
                <a:ea typeface="Arial"/>
                <a:cs typeface="Arial"/>
              </a:rPr>
              <a:t>CTF Difensiva (Patching &amp; Hardening)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8905" y="1618211"/>
            <a:ext cx="5376602" cy="25074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518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Obiettivo:</a:t>
            </a:r>
            <a:r>
              <a:rPr sz="151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Correggere la vulnerabilità mantenendo attivo 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8905" y="1892531"/>
            <a:ext cx="1088380" cy="25074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51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servizio.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435" y="2445068"/>
            <a:ext cx="1523048" cy="679132"/>
          </a:xfrm>
          <a:prstGeom prst="roundRect">
            <a:avLst>
              <a:gd name="adj" fmla="val 11220"/>
            </a:avLst>
          </a:prstGeom>
          <a:solidFill>
            <a:srgbClr val="FFFFFF"/>
          </a:solidFill>
          <a:ln w="14288">
            <a:solidFill>
              <a:srgbClr val="CBD5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9968" y="2564981"/>
            <a:ext cx="1227981" cy="231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399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1. Attacco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492" y="2819814"/>
            <a:ext cx="1476933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34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Exploit remoto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850" y="2543056"/>
            <a:ext cx="571500" cy="48220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898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10765" y="2333625"/>
            <a:ext cx="1524000" cy="901065"/>
          </a:xfrm>
          <a:prstGeom prst="roundRect">
            <a:avLst>
              <a:gd name="adj" fmla="val 8456"/>
            </a:avLst>
          </a:prstGeom>
          <a:solidFill>
            <a:srgbClr val="EFF6FF"/>
          </a:solidFill>
          <a:ln w="14288">
            <a:solidFill>
              <a:srgbClr val="3B82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0317" y="2454491"/>
            <a:ext cx="1184895" cy="231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399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2. Lettura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5091" y="2693432"/>
            <a:ext cx="575349" cy="220790"/>
          </a:xfrm>
          <a:prstGeom prst="roundRect">
            <a:avLst>
              <a:gd name="adj" fmla="val 17256"/>
            </a:avLst>
          </a:prstGeom>
          <a:solidFill>
            <a:srgbClr val="EFF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7383" y="2735120"/>
            <a:ext cx="956349" cy="18883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43" b="1" i="0">
                <a:solidFill>
                  <a:srgbClr val="1E40AF"/>
                </a:solidFill>
                <a:latin typeface="Courier New"/>
                <a:ea typeface="Courier New"/>
                <a:cs typeface="Courier New"/>
              </a:rPr>
              <a:t>/root/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915" y="2915364"/>
            <a:ext cx="749701" cy="220790"/>
          </a:xfrm>
          <a:prstGeom prst="roundRect">
            <a:avLst>
              <a:gd name="adj" fmla="val 17256"/>
            </a:avLst>
          </a:prstGeom>
          <a:solidFill>
            <a:srgbClr val="EFF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915" y="2957053"/>
            <a:ext cx="1130701" cy="18883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43" b="1" i="0">
                <a:solidFill>
                  <a:srgbClr val="1E40AF"/>
                </a:solidFill>
                <a:latin typeface="Courier New"/>
                <a:ea typeface="Courier New"/>
                <a:cs typeface="Courier New"/>
              </a:rPr>
              <a:t>flag.txt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26180" y="2543056"/>
            <a:ext cx="571500" cy="48220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898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89095" y="2445068"/>
            <a:ext cx="1523048" cy="679132"/>
          </a:xfrm>
          <a:prstGeom prst="roundRect">
            <a:avLst>
              <a:gd name="adj" fmla="val 11220"/>
            </a:avLst>
          </a:prstGeom>
          <a:solidFill>
            <a:srgbClr val="F0FDF4"/>
          </a:solidFill>
          <a:ln w="14288">
            <a:solidFill>
              <a:srgbClr val="16A34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047" y="2564981"/>
            <a:ext cx="1215144" cy="231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399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3. Verifica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45527" y="2819814"/>
            <a:ext cx="1410184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34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Match stringa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8905" y="2333625"/>
            <a:ext cx="1523048" cy="901065"/>
          </a:xfrm>
          <a:prstGeom prst="roundRect">
            <a:avLst>
              <a:gd name="adj" fmla="val 8456"/>
            </a:avLst>
          </a:prstGeom>
          <a:solidFill>
            <a:srgbClr val="FFFBEB"/>
          </a:solidFill>
          <a:ln w="14288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6552" y="2454491"/>
            <a:ext cx="1307753" cy="231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399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1. Accesso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6756" y="2709324"/>
            <a:ext cx="1267346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34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Giocatore 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13784" y="2915364"/>
            <a:ext cx="453289" cy="220790"/>
          </a:xfrm>
          <a:prstGeom prst="roundRect">
            <a:avLst>
              <a:gd name="adj" fmla="val 17256"/>
            </a:avLst>
          </a:prstGeom>
          <a:solidFill>
            <a:srgbClr val="EFF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66077" y="2957053"/>
            <a:ext cx="834289" cy="18883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43" b="1" i="0">
                <a:solidFill>
                  <a:srgbClr val="1E40AF"/>
                </a:solidFill>
                <a:latin typeface="Courier New"/>
                <a:ea typeface="Courier New"/>
                <a:cs typeface="Courier New"/>
              </a:rPr>
              <a:t>root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94320" y="2543056"/>
            <a:ext cx="571500" cy="48220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898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57235" y="2445068"/>
            <a:ext cx="1524000" cy="679132"/>
          </a:xfrm>
          <a:prstGeom prst="roundRect">
            <a:avLst>
              <a:gd name="adj" fmla="val 11220"/>
            </a:avLst>
          </a:prstGeom>
          <a:solidFill>
            <a:srgbClr val="FFFFFF"/>
          </a:solidFill>
          <a:ln w="14288">
            <a:solidFill>
              <a:srgbClr val="CBD5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1390" y="2564981"/>
            <a:ext cx="1115690" cy="231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399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2. Difesa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9511" y="2819814"/>
            <a:ext cx="819448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34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2650" y="2543056"/>
            <a:ext cx="571500" cy="48220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</a:pPr>
            <a:r>
              <a:rPr sz="1898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35565" y="2445068"/>
            <a:ext cx="1523048" cy="679132"/>
          </a:xfrm>
          <a:prstGeom prst="roundRect">
            <a:avLst>
              <a:gd name="adj" fmla="val 11220"/>
            </a:avLst>
          </a:prstGeom>
          <a:solidFill>
            <a:srgbClr val="FEF2F2"/>
          </a:solidFill>
          <a:ln w="14288">
            <a:solidFill>
              <a:srgbClr val="EF44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4971" y="2564981"/>
            <a:ext cx="1324235" cy="231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399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3. Verifica?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6635" y="2819814"/>
            <a:ext cx="1600907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34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Oracolo esterno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2435" y="3355658"/>
            <a:ext cx="5279708" cy="876300"/>
          </a:xfrm>
          <a:prstGeom prst="roundRect">
            <a:avLst>
              <a:gd name="adj" fmla="val 10869"/>
            </a:avLst>
          </a:prstGeom>
          <a:solidFill>
            <a:srgbClr val="16A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32435" y="3393758"/>
            <a:ext cx="5279708" cy="838200"/>
          </a:xfrm>
          <a:prstGeom prst="roundRect">
            <a:avLst>
              <a:gd name="adj" fmla="val 1136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0558" y="3575029"/>
            <a:ext cx="4019810" cy="23913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48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Verifica Banale:</a:t>
            </a:r>
            <a:r>
              <a:rPr sz="1448" b="0" i="0">
                <a:solidFill>
                  <a:srgbClr val="14532D"/>
                </a:solidFill>
                <a:latin typeface="Arial"/>
                <a:ea typeface="Arial"/>
                <a:cs typeface="Arial"/>
              </a:rPr>
              <a:t> il giocatore </a:t>
            </a:r>
            <a:r>
              <a:rPr sz="1448" b="0" i="1">
                <a:solidFill>
                  <a:srgbClr val="14532D"/>
                </a:solidFill>
                <a:latin typeface="Arial"/>
                <a:ea typeface="Arial"/>
                <a:cs typeface="Arial"/>
              </a:rPr>
              <a:t>non ha accesso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558" y="3836014"/>
            <a:ext cx="3652726" cy="23913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48" b="0" i="1">
                <a:solidFill>
                  <a:srgbClr val="14532D"/>
                </a:solidFill>
                <a:latin typeface="Arial"/>
                <a:ea typeface="Arial"/>
                <a:cs typeface="Arial"/>
              </a:rPr>
              <a:t>privilegiato</a:t>
            </a:r>
            <a:r>
              <a:rPr sz="1448" b="0" i="0">
                <a:solidFill>
                  <a:srgbClr val="14532D"/>
                </a:solidFill>
                <a:latin typeface="Arial"/>
                <a:ea typeface="Arial"/>
                <a:cs typeface="Arial"/>
              </a:rPr>
              <a:t>. Basta confrontare la stringa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22283" y="3827369"/>
            <a:ext cx="961457" cy="237665"/>
          </a:xfrm>
          <a:prstGeom prst="roundRect">
            <a:avLst>
              <a:gd name="adj" fmla="val 16030"/>
            </a:avLst>
          </a:prstGeom>
          <a:solidFill>
            <a:srgbClr val="EFF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78573" y="3872244"/>
            <a:ext cx="1342457" cy="2032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31" b="1" i="0">
                <a:solidFill>
                  <a:srgbClr val="1E40AF"/>
                </a:solidFill>
                <a:latin typeface="Courier New"/>
                <a:ea typeface="Courier New"/>
                <a:cs typeface="Courier New"/>
              </a:rPr>
              <a:t>flag{...}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78905" y="3355658"/>
            <a:ext cx="5279708" cy="876300"/>
          </a:xfrm>
          <a:prstGeom prst="roundRect">
            <a:avLst>
              <a:gd name="adj" fmla="val 10869"/>
            </a:avLst>
          </a:prstGeom>
          <a:solidFill>
            <a:srgbClr val="EF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78905" y="3393758"/>
            <a:ext cx="5279708" cy="838200"/>
          </a:xfrm>
          <a:prstGeom prst="roundRect">
            <a:avLst>
              <a:gd name="adj" fmla="val 1136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97028" y="3575029"/>
            <a:ext cx="4886176" cy="23913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48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Perché è complesso:</a:t>
            </a:r>
            <a:r>
              <a:rPr sz="1448" b="0" i="0">
                <a:solidFill>
                  <a:srgbClr val="7F1D1D"/>
                </a:solidFill>
                <a:latin typeface="Arial"/>
                <a:ea typeface="Arial"/>
                <a:cs typeface="Arial"/>
              </a:rPr>
              <a:t> il giocatore leggerebbe qualsiasi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97028" y="3836014"/>
            <a:ext cx="4757998" cy="23913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48" b="0" i="0">
                <a:solidFill>
                  <a:srgbClr val="7F1D1D"/>
                </a:solidFill>
                <a:latin typeface="Arial"/>
                <a:ea typeface="Arial"/>
                <a:cs typeface="Arial"/>
              </a:rPr>
              <a:t>flag nel fs. Può intercettare i test dell'oracolo e barare.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1450" y="57150"/>
            <a:ext cx="523875" cy="76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5325" y="57150"/>
            <a:ext cx="523875" cy="76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1450" y="267381"/>
            <a:ext cx="6676288" cy="4217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554" b="1" i="0" spc="-51">
                <a:solidFill>
                  <a:srgbClr val="0F172A"/>
                </a:solidFill>
                <a:latin typeface="Arial"/>
                <a:ea typeface="Arial"/>
                <a:cs typeface="Arial"/>
              </a:rPr>
              <a:t>La Nostra Proposta: Obiettivi di BlueAgent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450" y="782955"/>
            <a:ext cx="3817620" cy="2787015"/>
          </a:xfrm>
          <a:prstGeom prst="roundRect">
            <a:avLst>
              <a:gd name="adj" fmla="val 3417"/>
            </a:avLst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1450" y="821055"/>
            <a:ext cx="3817620" cy="2748915"/>
          </a:xfrm>
          <a:prstGeom prst="roundRect">
            <a:avLst>
              <a:gd name="adj" fmla="val 34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2435" y="104013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DBE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c_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5" y="1135380"/>
            <a:ext cx="2476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435" y="1642073"/>
            <a:ext cx="2533017" cy="29060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1E40AF"/>
                </a:solidFill>
                <a:latin typeface="Arial"/>
                <a:ea typeface="Arial"/>
                <a:cs typeface="Arial"/>
              </a:rPr>
              <a:t>1. System Container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435" y="2208192"/>
            <a:ext cx="3224212" cy="23913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4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Ambienti completi e realistici gestiti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435" y="2469177"/>
            <a:ext cx="1886210" cy="23913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4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da </a:t>
            </a:r>
            <a:r>
              <a:rPr sz="1448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Incus</a:t>
            </a:r>
            <a:r>
              <a:rPr sz="144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 offrendo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7645" y="2460531"/>
            <a:ext cx="772817" cy="237665"/>
          </a:xfrm>
          <a:prstGeom prst="roundRect">
            <a:avLst>
              <a:gd name="adj" fmla="val 16030"/>
            </a:avLst>
          </a:prstGeom>
          <a:solidFill>
            <a:srgbClr val="EFF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93935" y="2505406"/>
            <a:ext cx="1153817" cy="2032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31" b="1" i="0">
                <a:solidFill>
                  <a:srgbClr val="1E40AF"/>
                </a:solidFill>
                <a:latin typeface="Courier New"/>
                <a:ea typeface="Courier New"/>
                <a:cs typeface="Courier New"/>
              </a:rPr>
              <a:t>systemd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435" y="2785110"/>
            <a:ext cx="3294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435" y="2918874"/>
            <a:ext cx="509588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45" b="1" i="0">
                <a:solidFill>
                  <a:srgbClr val="1E40A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918" y="2918874"/>
            <a:ext cx="2277368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45" b="1" i="0">
                <a:solidFill>
                  <a:srgbClr val="1E40AF"/>
                </a:solidFill>
                <a:latin typeface="Arial"/>
                <a:ea typeface="Arial"/>
                <a:cs typeface="Arial"/>
              </a:rPr>
              <a:t>Persistenza delle 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435" y="3140807"/>
            <a:ext cx="509588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45" b="1" i="0">
                <a:solidFill>
                  <a:srgbClr val="1E40A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918" y="3140807"/>
            <a:ext cx="1686223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45" b="1" i="0">
                <a:solidFill>
                  <a:srgbClr val="1E40AF"/>
                </a:solidFill>
                <a:latin typeface="Arial"/>
                <a:ea typeface="Arial"/>
                <a:cs typeface="Arial"/>
              </a:rPr>
              <a:t>Basso uso 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87190" y="782955"/>
            <a:ext cx="3817620" cy="2787015"/>
          </a:xfrm>
          <a:prstGeom prst="roundRect">
            <a:avLst>
              <a:gd name="adj" fmla="val 3417"/>
            </a:avLst>
          </a:prstGeom>
          <a:solidFill>
            <a:srgbClr val="0EA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87190" y="821055"/>
            <a:ext cx="3817620" cy="2748915"/>
          </a:xfrm>
          <a:prstGeom prst="roundRect">
            <a:avLst>
              <a:gd name="adj" fmla="val 34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48175" y="104013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E0F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ic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5" y="1135380"/>
            <a:ext cx="247650" cy="247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48175" y="1642073"/>
            <a:ext cx="2913125" cy="29060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1E40AF"/>
                </a:solidFill>
                <a:latin typeface="Arial"/>
                <a:ea typeface="Arial"/>
                <a:cs typeface="Arial"/>
              </a:rPr>
              <a:t>2. Topologie Multi-Nodo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8175" y="2208192"/>
            <a:ext cx="2684711" cy="23913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4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Rete dedicata per ogni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8175" y="2469177"/>
            <a:ext cx="2468352" cy="23913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4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ccessibile da </a:t>
            </a:r>
            <a:r>
              <a:rPr sz="1448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WireGuard</a:t>
            </a:r>
            <a:r>
              <a:rPr sz="144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48175" y="2785110"/>
            <a:ext cx="3294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8175" y="2918874"/>
            <a:ext cx="509588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45" b="1" i="0">
                <a:solidFill>
                  <a:srgbClr val="0284C7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4658" y="2918874"/>
            <a:ext cx="1419076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45" b="1" i="0">
                <a:solidFill>
                  <a:srgbClr val="0284C7"/>
                </a:solidFill>
                <a:latin typeface="Arial"/>
                <a:ea typeface="Arial"/>
                <a:cs typeface="Arial"/>
              </a:rPr>
              <a:t>Nodi multipli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8175" y="3140807"/>
            <a:ext cx="509588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45" b="1" i="0">
                <a:solidFill>
                  <a:srgbClr val="0284C7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4658" y="3140807"/>
            <a:ext cx="1333723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45" b="1" i="0">
                <a:solidFill>
                  <a:srgbClr val="0284C7"/>
                </a:solidFill>
                <a:latin typeface="Arial"/>
                <a:ea typeface="Arial"/>
                <a:cs typeface="Arial"/>
              </a:rPr>
              <a:t>Isolamento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97381" y="3132777"/>
            <a:ext cx="801972" cy="220744"/>
          </a:xfrm>
          <a:prstGeom prst="roundRect">
            <a:avLst>
              <a:gd name="adj" fmla="val 17259"/>
            </a:avLst>
          </a:prstGeom>
          <a:solidFill>
            <a:srgbClr val="EFF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49663" y="3174457"/>
            <a:ext cx="1182972" cy="18879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43" b="1" i="0">
                <a:solidFill>
                  <a:srgbClr val="1E40AF"/>
                </a:solidFill>
                <a:latin typeface="Courier New"/>
                <a:ea typeface="Courier New"/>
                <a:cs typeface="Courier New"/>
              </a:rPr>
              <a:t>nftables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9353" y="3140807"/>
            <a:ext cx="1095710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45" b="1" i="0">
                <a:solidFill>
                  <a:srgbClr val="0284C7"/>
                </a:solidFill>
                <a:latin typeface="Arial"/>
                <a:ea typeface="Arial"/>
                <a:cs typeface="Arial"/>
              </a:rPr>
              <a:t> tra team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02930" y="782955"/>
            <a:ext cx="3817620" cy="2787015"/>
          </a:xfrm>
          <a:prstGeom prst="roundRect">
            <a:avLst>
              <a:gd name="adj" fmla="val 3417"/>
            </a:avLst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02930" y="821055"/>
            <a:ext cx="3817620" cy="2748915"/>
          </a:xfrm>
          <a:prstGeom prst="roundRect">
            <a:avLst>
              <a:gd name="adj" fmla="val 34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63915" y="104013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DCFC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ic_eye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165" y="1135380"/>
            <a:ext cx="247650" cy="2476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63915" y="1642073"/>
            <a:ext cx="2446251" cy="29060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1E40AF"/>
                </a:solidFill>
                <a:latin typeface="Arial"/>
                <a:ea typeface="Arial"/>
                <a:cs typeface="Arial"/>
              </a:rPr>
              <a:t>3. Verifica Invisibile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63915" y="2208192"/>
            <a:ext cx="3152887" cy="23913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4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Oracolo  su </a:t>
            </a:r>
            <a:r>
              <a:rPr sz="1448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cloni</a:t>
            </a:r>
            <a:r>
              <a:rPr sz="144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 in una rete SDN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3915" y="2469177"/>
            <a:ext cx="1410258" cy="23913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48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OVN</a:t>
            </a:r>
            <a:r>
              <a:rPr sz="1448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isolata.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63915" y="2785110"/>
            <a:ext cx="3294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63915" y="2918874"/>
            <a:ext cx="509588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45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0398" y="2918874"/>
            <a:ext cx="1876611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45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No leak (tcpdump)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3915" y="3140807"/>
            <a:ext cx="509588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45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0398" y="3140807"/>
            <a:ext cx="3076947" cy="22211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45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Nessun impatto sulla produzione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1450" y="57150"/>
            <a:ext cx="523875" cy="76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5325" y="57150"/>
            <a:ext cx="523875" cy="76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1450" y="267381"/>
            <a:ext cx="7628922" cy="4217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554" b="1" i="0" spc="-51">
                <a:solidFill>
                  <a:srgbClr val="0F172A"/>
                </a:solidFill>
                <a:latin typeface="Arial"/>
                <a:ea typeface="Arial"/>
                <a:cs typeface="Arial"/>
              </a:rPr>
              <a:t>Architettura del Sistema: Diagramma delle Classi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450" y="782955"/>
            <a:ext cx="11849100" cy="5857875"/>
          </a:xfrm>
          <a:prstGeom prst="roundRect">
            <a:avLst>
              <a:gd name="adj" fmla="val 1626"/>
            </a:avLst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1450" y="821055"/>
            <a:ext cx="11849100" cy="5819775"/>
          </a:xfrm>
          <a:prstGeom prst="roundRect">
            <a:avLst>
              <a:gd name="adj" fmla="val 1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4800" y="935355"/>
            <a:ext cx="11582400" cy="5553075"/>
          </a:xfrm>
          <a:prstGeom prst="roundRect">
            <a:avLst>
              <a:gd name="adj" fmla="val 137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classdia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21034"/>
            <a:ext cx="11430000" cy="49817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1450" y="57150"/>
            <a:ext cx="523875" cy="76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5325" y="57150"/>
            <a:ext cx="523875" cy="76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1450" y="267381"/>
            <a:ext cx="8311180" cy="4217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554" b="1" i="0" spc="-5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Processo di Verifica: Diagramma di Sequenza (UC-03)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450" y="782955"/>
            <a:ext cx="11849100" cy="5857875"/>
          </a:xfrm>
          <a:prstGeom prst="roundRect">
            <a:avLst>
              <a:gd name="adj" fmla="val 1626"/>
            </a:avLst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1450" y="821055"/>
            <a:ext cx="11849100" cy="5819775"/>
          </a:xfrm>
          <a:prstGeom prst="roundRect">
            <a:avLst>
              <a:gd name="adj" fmla="val 1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4800" y="935355"/>
            <a:ext cx="11582400" cy="5553075"/>
          </a:xfrm>
          <a:prstGeom prst="roundRect">
            <a:avLst>
              <a:gd name="adj" fmla="val 137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seq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30482"/>
            <a:ext cx="11430000" cy="53628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1450" y="57150"/>
            <a:ext cx="523875" cy="76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5325" y="57150"/>
            <a:ext cx="523875" cy="76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1450" y="267381"/>
            <a:ext cx="5109359" cy="4217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554" b="1" i="0" spc="-51">
                <a:solidFill>
                  <a:srgbClr val="0F172A"/>
                </a:solidFill>
                <a:latin typeface="Arial"/>
                <a:ea typeface="Arial"/>
                <a:cs typeface="Arial"/>
              </a:rPr>
              <a:t>Validazione: Sintesi dei Risultati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450" y="782955"/>
            <a:ext cx="5802630" cy="2894648"/>
          </a:xfrm>
          <a:prstGeom prst="roundRect">
            <a:avLst>
              <a:gd name="adj" fmla="val 3290"/>
            </a:avLst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1450" y="821055"/>
            <a:ext cx="5802630" cy="2856548"/>
          </a:xfrm>
          <a:prstGeom prst="roundRect">
            <a:avLst>
              <a:gd name="adj" fmla="val 33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4800" y="935355"/>
            <a:ext cx="5535930" cy="2323148"/>
          </a:xfrm>
          <a:prstGeom prst="roundRect">
            <a:avLst>
              <a:gd name="adj" fmla="val 328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summary_graph2_micro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96" y="992505"/>
            <a:ext cx="5368338" cy="2208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4800" y="3317450"/>
            <a:ext cx="4882046" cy="2135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93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Sotto-fasi:</a:t>
            </a:r>
            <a:r>
              <a:rPr sz="1293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il deploy è dominato dall'estrazione dell'immagine.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782955"/>
            <a:ext cx="5802630" cy="2894648"/>
          </a:xfrm>
          <a:prstGeom prst="roundRect">
            <a:avLst>
              <a:gd name="adj" fmla="val 3290"/>
            </a:avLst>
          </a:prstGeom>
          <a:solidFill>
            <a:srgbClr val="0EA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821055"/>
            <a:ext cx="5802630" cy="2856548"/>
          </a:xfrm>
          <a:prstGeom prst="roundRect">
            <a:avLst>
              <a:gd name="adj" fmla="val 33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1270" y="935355"/>
            <a:ext cx="5535930" cy="2323148"/>
          </a:xfrm>
          <a:prstGeom prst="roundRect">
            <a:avLst>
              <a:gd name="adj" fmla="val 328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summary_graph3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66" y="992505"/>
            <a:ext cx="5368338" cy="22088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51270" y="3317450"/>
            <a:ext cx="5216798" cy="2135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93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Memoria:</a:t>
            </a:r>
            <a:r>
              <a:rPr sz="1293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la RAM cresce linearmente, ~5.2 GB con 100 container.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450" y="3830002"/>
            <a:ext cx="5802630" cy="2894648"/>
          </a:xfrm>
          <a:prstGeom prst="roundRect">
            <a:avLst>
              <a:gd name="adj" fmla="val 3290"/>
            </a:avLst>
          </a:prstGeom>
          <a:solidFill>
            <a:srgbClr val="0EA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1450" y="3868102"/>
            <a:ext cx="5802630" cy="2856548"/>
          </a:xfrm>
          <a:prstGeom prst="roundRect">
            <a:avLst>
              <a:gd name="adj" fmla="val 33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4800" y="3982402"/>
            <a:ext cx="5535930" cy="2323148"/>
          </a:xfrm>
          <a:prstGeom prst="roundRect">
            <a:avLst>
              <a:gd name="adj" fmla="val 328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summary_graph4_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96" y="4039552"/>
            <a:ext cx="5368338" cy="22088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4800" y="6364498"/>
            <a:ext cx="5108191" cy="2135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93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Timeline:</a:t>
            </a:r>
            <a:r>
              <a:rPr sz="1293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picco di RAM in verifica, rilascio completo al teardown.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30002"/>
            <a:ext cx="5802630" cy="2894648"/>
          </a:xfrm>
          <a:prstGeom prst="roundRect">
            <a:avLst>
              <a:gd name="adj" fmla="val 3290"/>
            </a:avLst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868102"/>
            <a:ext cx="5802630" cy="2856548"/>
          </a:xfrm>
          <a:prstGeom prst="roundRect">
            <a:avLst>
              <a:gd name="adj" fmla="val 33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51270" y="3982402"/>
            <a:ext cx="5535930" cy="2323148"/>
          </a:xfrm>
          <a:prstGeom prst="roundRect">
            <a:avLst>
              <a:gd name="adj" fmla="val 328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summary_graph5_cpu_iow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066" y="4039552"/>
            <a:ext cx="5368338" cy="22088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51270" y="6364498"/>
            <a:ext cx="4348200" cy="2135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93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CPU vs I/O:</a:t>
            </a:r>
            <a:r>
              <a:rPr sz="1293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il collo di bottiglia è l'I/O wait, non la CPU.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1450" y="57150"/>
            <a:ext cx="523875" cy="76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5325" y="57150"/>
            <a:ext cx="523875" cy="76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1450" y="267381"/>
            <a:ext cx="5619445" cy="4217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554" b="1" i="0" spc="-51">
                <a:solidFill>
                  <a:srgbClr val="0F172A"/>
                </a:solidFill>
                <a:latin typeface="Arial"/>
                <a:ea typeface="Arial"/>
                <a:cs typeface="Arial"/>
              </a:rPr>
              <a:t>Conclusioni e Spazio alle Domande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450" y="782955"/>
            <a:ext cx="4526280" cy="3789998"/>
          </a:xfrm>
          <a:prstGeom prst="roundRect">
            <a:avLst>
              <a:gd name="adj" fmla="val 2513"/>
            </a:avLst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1450" y="821055"/>
            <a:ext cx="4526280" cy="3751898"/>
          </a:xfrm>
          <a:prstGeom prst="roundRect">
            <a:avLst>
              <a:gd name="adj" fmla="val 25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davide_ava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415" y="1534478"/>
            <a:ext cx="1276350" cy="1276350"/>
          </a:xfrm>
          <a:prstGeom prst="ellipse">
            <a:avLst/>
          </a:prstGeom>
          <a:ln w="28575">
            <a:solidFill>
              <a:srgbClr val="BFDBFE"/>
            </a:solidFill>
          </a:ln>
          <a:effectLst>
            <a:outerShdw blurRad="228600" dist="76200" dir="5400000" algn="t" rotWithShape="0">
              <a:srgbClr val="2563EB">
                <a:alpha val="2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1475579" y="3023548"/>
            <a:ext cx="1918022" cy="35599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2156" b="1" i="0">
                <a:solidFill>
                  <a:srgbClr val="1E40AF"/>
                </a:solidFill>
                <a:latin typeface="Arial"/>
                <a:ea typeface="Arial"/>
                <a:cs typeface="Arial"/>
              </a:rPr>
              <a:t>Davide Luci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6394" y="3407959"/>
            <a:ext cx="2096393" cy="25074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518" b="1" i="0">
                <a:solidFill>
                  <a:srgbClr val="1E40AF"/>
                </a:solidFill>
                <a:latin typeface="Arial"/>
                <a:ea typeface="Arial"/>
                <a:cs typeface="Arial"/>
              </a:rPr>
              <a:t>Matricola: 0341922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283" y="3744024"/>
            <a:ext cx="3198614" cy="2279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38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Informatica Triennale — Tor Vergata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41570" y="782955"/>
            <a:ext cx="7078980" cy="2477452"/>
          </a:xfrm>
          <a:prstGeom prst="roundRect">
            <a:avLst>
              <a:gd name="adj" fmla="val 3844"/>
            </a:avLst>
          </a:prstGeom>
          <a:solidFill>
            <a:srgbClr val="0EA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41570" y="821055"/>
            <a:ext cx="7078980" cy="2439352"/>
          </a:xfrm>
          <a:prstGeom prst="roundRect">
            <a:avLst>
              <a:gd name="adj" fmla="val 39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2555" y="1018186"/>
            <a:ext cx="2370534" cy="29060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1E40AF"/>
                </a:solidFill>
                <a:latin typeface="Arial"/>
                <a:ea typeface="Arial"/>
                <a:cs typeface="Arial"/>
              </a:rPr>
              <a:t>Obiettivi Raggiunti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3512" y="1378299"/>
            <a:ext cx="444364" cy="2337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15" b="1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9248" y="1378299"/>
            <a:ext cx="4786350" cy="2337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1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System Container Leggeri:</a:t>
            </a:r>
            <a:r>
              <a:rPr sz="141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persistenza delle patch e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14597" y="1369982"/>
            <a:ext cx="750127" cy="232101"/>
          </a:xfrm>
          <a:prstGeom prst="roundRect">
            <a:avLst>
              <a:gd name="adj" fmla="val 16415"/>
            </a:avLst>
          </a:prstGeom>
          <a:solidFill>
            <a:srgbClr val="EFF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69569" y="1413806"/>
            <a:ext cx="1131127" cy="1985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02" b="1" i="0">
                <a:solidFill>
                  <a:srgbClr val="1E40AF"/>
                </a:solidFill>
                <a:latin typeface="Courier New"/>
                <a:ea typeface="Courier New"/>
                <a:cs typeface="Courier New"/>
              </a:rPr>
              <a:t>systemd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4724" y="1378299"/>
            <a:ext cx="1256221" cy="2337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1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nativo con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9248" y="1625949"/>
            <a:ext cx="1965275" cy="2337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1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~52 MB RAM/nodo.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3512" y="1952656"/>
            <a:ext cx="444364" cy="2337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15" b="1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9248" y="1952656"/>
            <a:ext cx="6269422" cy="2337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1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Verifica Fuori Banda Invisibile:</a:t>
            </a:r>
            <a:r>
              <a:rPr sz="141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cloni </a:t>
            </a:r>
            <a:r>
              <a:rPr sz="141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ZFS CoW</a:t>
            </a:r>
            <a:r>
              <a:rPr sz="141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(speedup </a:t>
            </a:r>
            <a:r>
              <a:rPr sz="141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3.6×</a:t>
            </a:r>
            <a:r>
              <a:rPr sz="141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) isolati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9248" y="2200306"/>
            <a:ext cx="2361642" cy="2337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1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SDN </a:t>
            </a:r>
            <a:r>
              <a:rPr sz="141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OVN &amp; OpenFlow</a:t>
            </a:r>
            <a:r>
              <a:rPr sz="141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3512" y="2526061"/>
            <a:ext cx="444364" cy="2337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15" b="1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9248" y="2526061"/>
            <a:ext cx="5887045" cy="2337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1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Integrazione Chiavi in Mano:</a:t>
            </a:r>
            <a:r>
              <a:rPr sz="141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plugin CTFd + API asincrona FastAPI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9248" y="2774664"/>
            <a:ext cx="2265462" cy="2337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1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configurabile via YAML.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41570" y="3374708"/>
            <a:ext cx="7078980" cy="1198245"/>
          </a:xfrm>
          <a:prstGeom prst="roundRect">
            <a:avLst>
              <a:gd name="adj" fmla="val 7949"/>
            </a:avLst>
          </a:prstGeom>
          <a:solidFill>
            <a:srgbClr val="1E40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41570" y="3412808"/>
            <a:ext cx="7078980" cy="1160145"/>
          </a:xfrm>
          <a:prstGeom prst="roundRect">
            <a:avLst>
              <a:gd name="adj" fmla="val 82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2555" y="3587078"/>
            <a:ext cx="1947714" cy="29060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1E40AF"/>
                </a:solidFill>
                <a:latin typeface="Arial"/>
                <a:ea typeface="Arial"/>
                <a:cs typeface="Arial"/>
              </a:rPr>
              <a:t>Sviluppi Futuri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2555" y="3932619"/>
            <a:ext cx="713817" cy="2279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8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CLI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5372" y="3924430"/>
            <a:ext cx="737550" cy="226445"/>
          </a:xfrm>
          <a:prstGeom prst="roundRect">
            <a:avLst>
              <a:gd name="adj" fmla="val 16825"/>
            </a:avLst>
          </a:prstGeom>
          <a:solidFill>
            <a:srgbClr val="EFF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89004" y="3967186"/>
            <a:ext cx="1118550" cy="19367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73" b="1" i="0">
                <a:solidFill>
                  <a:srgbClr val="1E40AF"/>
                </a:solidFill>
                <a:latin typeface="Courier New"/>
                <a:ea typeface="Courier New"/>
                <a:cs typeface="Courier New"/>
              </a:rPr>
              <a:t>bluecmd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922" y="3932619"/>
            <a:ext cx="5538974" cy="2279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standalone per debug locale • </a:t>
            </a:r>
            <a:r>
              <a:rPr sz="138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Polling SLA periodico</a:t>
            </a:r>
            <a:r>
              <a:rPr sz="138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automatico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2555" y="4181222"/>
            <a:ext cx="4617132" cy="2279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8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• </a:t>
            </a:r>
            <a:r>
              <a:rPr sz="138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Topologie YAML multi-subnet</a:t>
            </a:r>
            <a:r>
              <a:rPr sz="138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con router intermedi.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